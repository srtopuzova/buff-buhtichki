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ilk Tea Font TH" charset="1" panose="02000503000000000000"/>
      <p:regular r:id="rId15"/>
    </p:embeddedFont>
    <p:embeddedFont>
      <p:font typeface="Handy Casual" charset="1" panose="00000500000000000000"/>
      <p:regular r:id="rId16"/>
    </p:embeddedFon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74060" y="-1778318"/>
            <a:ext cx="13081353" cy="12843510"/>
          </a:xfrm>
          <a:custGeom>
            <a:avLst/>
            <a:gdLst/>
            <a:ahLst/>
            <a:cxnLst/>
            <a:rect r="r" b="b" t="t" l="l"/>
            <a:pathLst>
              <a:path h="12843510" w="13081353">
                <a:moveTo>
                  <a:pt x="0" y="0"/>
                </a:moveTo>
                <a:lnTo>
                  <a:pt x="13081353" y="0"/>
                </a:lnTo>
                <a:lnTo>
                  <a:pt x="13081353" y="12843511"/>
                </a:lnTo>
                <a:lnTo>
                  <a:pt x="0" y="12843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8469" y="5986944"/>
            <a:ext cx="2423690" cy="2955720"/>
          </a:xfrm>
          <a:custGeom>
            <a:avLst/>
            <a:gdLst/>
            <a:ahLst/>
            <a:cxnLst/>
            <a:rect r="r" b="b" t="t" l="l"/>
            <a:pathLst>
              <a:path h="2955720" w="2423690">
                <a:moveTo>
                  <a:pt x="0" y="0"/>
                </a:moveTo>
                <a:lnTo>
                  <a:pt x="2423690" y="0"/>
                </a:lnTo>
                <a:lnTo>
                  <a:pt x="2423690" y="2955720"/>
                </a:lnTo>
                <a:lnTo>
                  <a:pt x="0" y="2955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60654">
            <a:off x="439749" y="1952551"/>
            <a:ext cx="2817723" cy="2869903"/>
          </a:xfrm>
          <a:custGeom>
            <a:avLst/>
            <a:gdLst/>
            <a:ahLst/>
            <a:cxnLst/>
            <a:rect r="r" b="b" t="t" l="l"/>
            <a:pathLst>
              <a:path h="2869903" w="2817723">
                <a:moveTo>
                  <a:pt x="0" y="0"/>
                </a:moveTo>
                <a:lnTo>
                  <a:pt x="2817723" y="0"/>
                </a:lnTo>
                <a:lnTo>
                  <a:pt x="2817723" y="2869903"/>
                </a:lnTo>
                <a:lnTo>
                  <a:pt x="0" y="28699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029746" y="839433"/>
            <a:ext cx="3082336" cy="2975855"/>
          </a:xfrm>
          <a:custGeom>
            <a:avLst/>
            <a:gdLst/>
            <a:ahLst/>
            <a:cxnLst/>
            <a:rect r="r" b="b" t="t" l="l"/>
            <a:pathLst>
              <a:path h="2975855" w="3082336">
                <a:moveTo>
                  <a:pt x="3082336" y="0"/>
                </a:moveTo>
                <a:lnTo>
                  <a:pt x="0" y="0"/>
                </a:lnTo>
                <a:lnTo>
                  <a:pt x="0" y="2975855"/>
                </a:lnTo>
                <a:lnTo>
                  <a:pt x="3082336" y="2975855"/>
                </a:lnTo>
                <a:lnTo>
                  <a:pt x="308233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9561" y="6520319"/>
            <a:ext cx="3118100" cy="3129480"/>
          </a:xfrm>
          <a:custGeom>
            <a:avLst/>
            <a:gdLst/>
            <a:ahLst/>
            <a:cxnLst/>
            <a:rect r="r" b="b" t="t" l="l"/>
            <a:pathLst>
              <a:path h="3129480" w="3118100">
                <a:moveTo>
                  <a:pt x="0" y="0"/>
                </a:moveTo>
                <a:lnTo>
                  <a:pt x="3118100" y="0"/>
                </a:lnTo>
                <a:lnTo>
                  <a:pt x="3118100" y="3129480"/>
                </a:lnTo>
                <a:lnTo>
                  <a:pt x="0" y="3129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039126" y="4643438"/>
            <a:ext cx="2097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72749" y="2633590"/>
            <a:ext cx="10846367" cy="697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57"/>
              </a:lnSpc>
            </a:pPr>
            <a:r>
              <a:rPr lang="en-US" sz="27585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MEDSH</a:t>
            </a:r>
            <a:r>
              <a:rPr lang="en-US" sz="27585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ELF</a:t>
            </a:r>
          </a:p>
          <a:p>
            <a:pPr algn="ctr">
              <a:lnSpc>
                <a:spcPts val="26757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102547" y="1092596"/>
            <a:ext cx="1404555" cy="1514716"/>
          </a:xfrm>
          <a:custGeom>
            <a:avLst/>
            <a:gdLst/>
            <a:ahLst/>
            <a:cxnLst/>
            <a:rect r="r" b="b" t="t" l="l"/>
            <a:pathLst>
              <a:path h="1514716" w="1404555">
                <a:moveTo>
                  <a:pt x="0" y="0"/>
                </a:moveTo>
                <a:lnTo>
                  <a:pt x="1404554" y="0"/>
                </a:lnTo>
                <a:lnTo>
                  <a:pt x="1404554" y="1514716"/>
                </a:lnTo>
                <a:lnTo>
                  <a:pt x="0" y="15147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82348" y="7332829"/>
            <a:ext cx="1073436" cy="1157627"/>
          </a:xfrm>
          <a:custGeom>
            <a:avLst/>
            <a:gdLst/>
            <a:ahLst/>
            <a:cxnLst/>
            <a:rect r="r" b="b" t="t" l="l"/>
            <a:pathLst>
              <a:path h="1157627" w="1073436">
                <a:moveTo>
                  <a:pt x="0" y="0"/>
                </a:moveTo>
                <a:lnTo>
                  <a:pt x="1073436" y="0"/>
                </a:lnTo>
                <a:lnTo>
                  <a:pt x="1073436" y="1157627"/>
                </a:lnTo>
                <a:lnTo>
                  <a:pt x="0" y="1157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68835" y="6158394"/>
            <a:ext cx="10150330" cy="21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32"/>
              </a:lnSpc>
            </a:pPr>
            <a:r>
              <a:rPr lang="en-US" sz="8487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BuffBuhtichki</a:t>
            </a:r>
          </a:p>
          <a:p>
            <a:pPr algn="ctr">
              <a:lnSpc>
                <a:spcPts val="8232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52497" y="639693"/>
            <a:ext cx="5176405" cy="4959937"/>
          </a:xfrm>
          <a:custGeom>
            <a:avLst/>
            <a:gdLst/>
            <a:ahLst/>
            <a:cxnLst/>
            <a:rect r="r" b="b" t="t" l="l"/>
            <a:pathLst>
              <a:path h="4959937" w="5176405">
                <a:moveTo>
                  <a:pt x="0" y="0"/>
                </a:moveTo>
                <a:lnTo>
                  <a:pt x="5176405" y="0"/>
                </a:lnTo>
                <a:lnTo>
                  <a:pt x="5176405" y="4959937"/>
                </a:lnTo>
                <a:lnTo>
                  <a:pt x="0" y="4959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192343">
            <a:off x="-1358638" y="8412391"/>
            <a:ext cx="5176405" cy="4959937"/>
          </a:xfrm>
          <a:custGeom>
            <a:avLst/>
            <a:gdLst/>
            <a:ahLst/>
            <a:cxnLst/>
            <a:rect r="r" b="b" t="t" l="l"/>
            <a:pathLst>
              <a:path h="4959937" w="5176405">
                <a:moveTo>
                  <a:pt x="0" y="0"/>
                </a:moveTo>
                <a:lnTo>
                  <a:pt x="5176405" y="0"/>
                </a:lnTo>
                <a:lnTo>
                  <a:pt x="5176405" y="4959937"/>
                </a:lnTo>
                <a:lnTo>
                  <a:pt x="0" y="4959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3980453" y="4808571"/>
            <a:ext cx="9739605" cy="5174626"/>
            <a:chOff x="0" y="0"/>
            <a:chExt cx="2565163" cy="13628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5163" cy="1362865"/>
            </a:xfrm>
            <a:custGeom>
              <a:avLst/>
              <a:gdLst/>
              <a:ahLst/>
              <a:cxnLst/>
              <a:rect r="r" b="b" t="t" l="l"/>
              <a:pathLst>
                <a:path h="1362865" w="2565163">
                  <a:moveTo>
                    <a:pt x="73130" y="0"/>
                  </a:moveTo>
                  <a:lnTo>
                    <a:pt x="2492034" y="0"/>
                  </a:lnTo>
                  <a:cubicBezTo>
                    <a:pt x="2511429" y="0"/>
                    <a:pt x="2530030" y="7705"/>
                    <a:pt x="2543744" y="21419"/>
                  </a:cubicBezTo>
                  <a:cubicBezTo>
                    <a:pt x="2557459" y="35134"/>
                    <a:pt x="2565163" y="53735"/>
                    <a:pt x="2565163" y="73130"/>
                  </a:cubicBezTo>
                  <a:lnTo>
                    <a:pt x="2565163" y="1289735"/>
                  </a:lnTo>
                  <a:cubicBezTo>
                    <a:pt x="2565163" y="1309130"/>
                    <a:pt x="2557459" y="1327731"/>
                    <a:pt x="2543744" y="1341445"/>
                  </a:cubicBezTo>
                  <a:cubicBezTo>
                    <a:pt x="2530030" y="1355160"/>
                    <a:pt x="2511429" y="1362865"/>
                    <a:pt x="2492034" y="1362865"/>
                  </a:cubicBezTo>
                  <a:lnTo>
                    <a:pt x="73130" y="1362865"/>
                  </a:lnTo>
                  <a:cubicBezTo>
                    <a:pt x="53735" y="1362865"/>
                    <a:pt x="35134" y="1355160"/>
                    <a:pt x="21419" y="1341445"/>
                  </a:cubicBezTo>
                  <a:cubicBezTo>
                    <a:pt x="7705" y="1327731"/>
                    <a:pt x="0" y="1309130"/>
                    <a:pt x="0" y="1289735"/>
                  </a:cubicBezTo>
                  <a:lnTo>
                    <a:pt x="0" y="73130"/>
                  </a:lnTo>
                  <a:cubicBezTo>
                    <a:pt x="0" y="53735"/>
                    <a:pt x="7705" y="35134"/>
                    <a:pt x="21419" y="21419"/>
                  </a:cubicBezTo>
                  <a:cubicBezTo>
                    <a:pt x="35134" y="7705"/>
                    <a:pt x="53735" y="0"/>
                    <a:pt x="73130" y="0"/>
                  </a:cubicBezTo>
                  <a:close/>
                </a:path>
              </a:pathLst>
            </a:custGeom>
            <a:ln w="85725" cap="rnd">
              <a:solidFill>
                <a:srgbClr val="8ED2E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565163" cy="1410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494259">
            <a:off x="14330646" y="6262477"/>
            <a:ext cx="2313358" cy="3466886"/>
          </a:xfrm>
          <a:custGeom>
            <a:avLst/>
            <a:gdLst/>
            <a:ahLst/>
            <a:cxnLst/>
            <a:rect r="r" b="b" t="t" l="l"/>
            <a:pathLst>
              <a:path h="3466886" w="2313358">
                <a:moveTo>
                  <a:pt x="0" y="0"/>
                </a:moveTo>
                <a:lnTo>
                  <a:pt x="2313359" y="0"/>
                </a:lnTo>
                <a:lnTo>
                  <a:pt x="2313359" y="3466886"/>
                </a:lnTo>
                <a:lnTo>
                  <a:pt x="0" y="3466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79789">
            <a:off x="548814" y="4281501"/>
            <a:ext cx="3058949" cy="2636258"/>
          </a:xfrm>
          <a:custGeom>
            <a:avLst/>
            <a:gdLst/>
            <a:ahLst/>
            <a:cxnLst/>
            <a:rect r="r" b="b" t="t" l="l"/>
            <a:pathLst>
              <a:path h="2636258" w="3058949">
                <a:moveTo>
                  <a:pt x="0" y="0"/>
                </a:moveTo>
                <a:lnTo>
                  <a:pt x="3058949" y="0"/>
                </a:lnTo>
                <a:lnTo>
                  <a:pt x="3058949" y="2636258"/>
                </a:lnTo>
                <a:lnTo>
                  <a:pt x="0" y="2636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701542">
            <a:off x="-1064225" y="855775"/>
            <a:ext cx="3542130" cy="1513456"/>
          </a:xfrm>
          <a:custGeom>
            <a:avLst/>
            <a:gdLst/>
            <a:ahLst/>
            <a:cxnLst/>
            <a:rect r="r" b="b" t="t" l="l"/>
            <a:pathLst>
              <a:path h="1513456" w="3542130">
                <a:moveTo>
                  <a:pt x="0" y="0"/>
                </a:moveTo>
                <a:lnTo>
                  <a:pt x="3542130" y="0"/>
                </a:lnTo>
                <a:lnTo>
                  <a:pt x="3542130" y="1513455"/>
                </a:lnTo>
                <a:lnTo>
                  <a:pt x="0" y="15134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60805" y="2730646"/>
            <a:ext cx="2097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0012" y="1917787"/>
            <a:ext cx="8360340" cy="131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4"/>
              </a:lnSpc>
            </a:pPr>
            <a:r>
              <a:rPr lang="en-US" sz="10056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Проблемът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09742" y="5227420"/>
            <a:ext cx="9374876" cy="500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4"/>
              </a:lnSpc>
            </a:pPr>
            <a:r>
              <a:rPr lang="en-US" sz="356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Хората често купуват лекарства, които вече имат вкъщи</a:t>
            </a:r>
          </a:p>
          <a:p>
            <a:pPr algn="ctr">
              <a:lnSpc>
                <a:spcPts val="4994"/>
              </a:lnSpc>
            </a:pPr>
          </a:p>
          <a:p>
            <a:pPr algn="ctr">
              <a:lnSpc>
                <a:spcPts val="4994"/>
              </a:lnSpc>
            </a:pPr>
            <a:r>
              <a:rPr lang="en-US" sz="356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Срокът на годност лесно се пропуска</a:t>
            </a:r>
          </a:p>
          <a:p>
            <a:pPr algn="ctr">
              <a:lnSpc>
                <a:spcPts val="4994"/>
              </a:lnSpc>
            </a:pPr>
          </a:p>
          <a:p>
            <a:pPr algn="ctr">
              <a:lnSpc>
                <a:spcPts val="4994"/>
              </a:lnSpc>
            </a:pPr>
            <a:r>
              <a:rPr lang="en-US" sz="356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Трудно се следят рецепти, прием и оставащи количества</a:t>
            </a:r>
          </a:p>
          <a:p>
            <a:pPr algn="ctr">
              <a:lnSpc>
                <a:spcPts val="499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25587" y="3369330"/>
            <a:ext cx="10333713" cy="5238609"/>
            <a:chOff x="0" y="0"/>
            <a:chExt cx="2721636" cy="1379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21636" cy="1379716"/>
            </a:xfrm>
            <a:custGeom>
              <a:avLst/>
              <a:gdLst/>
              <a:ahLst/>
              <a:cxnLst/>
              <a:rect r="r" b="b" t="t" l="l"/>
              <a:pathLst>
                <a:path h="1379716" w="2721636">
                  <a:moveTo>
                    <a:pt x="68926" y="0"/>
                  </a:moveTo>
                  <a:lnTo>
                    <a:pt x="2652711" y="0"/>
                  </a:lnTo>
                  <a:cubicBezTo>
                    <a:pt x="2670991" y="0"/>
                    <a:pt x="2688523" y="7262"/>
                    <a:pt x="2701449" y="20188"/>
                  </a:cubicBezTo>
                  <a:cubicBezTo>
                    <a:pt x="2714375" y="33114"/>
                    <a:pt x="2721636" y="50645"/>
                    <a:pt x="2721636" y="68926"/>
                  </a:cubicBezTo>
                  <a:lnTo>
                    <a:pt x="2721636" y="1310790"/>
                  </a:lnTo>
                  <a:cubicBezTo>
                    <a:pt x="2721636" y="1348857"/>
                    <a:pt x="2690777" y="1379716"/>
                    <a:pt x="2652711" y="1379716"/>
                  </a:cubicBezTo>
                  <a:lnTo>
                    <a:pt x="68926" y="1379716"/>
                  </a:lnTo>
                  <a:cubicBezTo>
                    <a:pt x="30859" y="1379716"/>
                    <a:pt x="0" y="1348857"/>
                    <a:pt x="0" y="1310790"/>
                  </a:cubicBezTo>
                  <a:lnTo>
                    <a:pt x="0" y="68926"/>
                  </a:lnTo>
                  <a:cubicBezTo>
                    <a:pt x="0" y="30859"/>
                    <a:pt x="30859" y="0"/>
                    <a:pt x="68926" y="0"/>
                  </a:cubicBezTo>
                  <a:close/>
                </a:path>
              </a:pathLst>
            </a:custGeom>
            <a:ln w="85725" cap="rnd">
              <a:solidFill>
                <a:srgbClr val="8ED2E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21636" cy="1427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905417">
            <a:off x="-3156262" y="-2976394"/>
            <a:ext cx="7942954" cy="7798537"/>
          </a:xfrm>
          <a:custGeom>
            <a:avLst/>
            <a:gdLst/>
            <a:ahLst/>
            <a:cxnLst/>
            <a:rect r="r" b="b" t="t" l="l"/>
            <a:pathLst>
              <a:path h="7798537" w="7942954">
                <a:moveTo>
                  <a:pt x="0" y="0"/>
                </a:moveTo>
                <a:lnTo>
                  <a:pt x="7942955" y="0"/>
                </a:lnTo>
                <a:lnTo>
                  <a:pt x="7942955" y="7798537"/>
                </a:lnTo>
                <a:lnTo>
                  <a:pt x="0" y="77985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11546" y="4778184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0" y="0"/>
                </a:moveTo>
                <a:lnTo>
                  <a:pt x="4084875" y="0"/>
                </a:lnTo>
                <a:lnTo>
                  <a:pt x="4084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81426" y="819837"/>
            <a:ext cx="3373993" cy="2410872"/>
          </a:xfrm>
          <a:custGeom>
            <a:avLst/>
            <a:gdLst/>
            <a:ahLst/>
            <a:cxnLst/>
            <a:rect r="r" b="b" t="t" l="l"/>
            <a:pathLst>
              <a:path h="2410872" w="3373993">
                <a:moveTo>
                  <a:pt x="0" y="0"/>
                </a:moveTo>
                <a:lnTo>
                  <a:pt x="3373994" y="0"/>
                </a:lnTo>
                <a:lnTo>
                  <a:pt x="3373994" y="2410872"/>
                </a:lnTo>
                <a:lnTo>
                  <a:pt x="0" y="2410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069823">
            <a:off x="12539057" y="8540570"/>
            <a:ext cx="6781012" cy="6657721"/>
          </a:xfrm>
          <a:custGeom>
            <a:avLst/>
            <a:gdLst/>
            <a:ahLst/>
            <a:cxnLst/>
            <a:rect r="r" b="b" t="t" l="l"/>
            <a:pathLst>
              <a:path h="6657721" w="6781012">
                <a:moveTo>
                  <a:pt x="0" y="0"/>
                </a:moveTo>
                <a:lnTo>
                  <a:pt x="6781012" y="0"/>
                </a:lnTo>
                <a:lnTo>
                  <a:pt x="6781012" y="6657721"/>
                </a:lnTo>
                <a:lnTo>
                  <a:pt x="0" y="6657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601112" y="9258300"/>
            <a:ext cx="3085776" cy="544219"/>
          </a:xfrm>
          <a:custGeom>
            <a:avLst/>
            <a:gdLst/>
            <a:ahLst/>
            <a:cxnLst/>
            <a:rect r="r" b="b" t="t" l="l"/>
            <a:pathLst>
              <a:path h="544219" w="3085776">
                <a:moveTo>
                  <a:pt x="0" y="0"/>
                </a:moveTo>
                <a:lnTo>
                  <a:pt x="3085776" y="0"/>
                </a:lnTo>
                <a:lnTo>
                  <a:pt x="3085776" y="544219"/>
                </a:lnTo>
                <a:lnTo>
                  <a:pt x="0" y="5442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26335" y="2730646"/>
            <a:ext cx="2097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86519" y="1272535"/>
            <a:ext cx="10042399" cy="232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8"/>
              </a:lnSpc>
            </a:pPr>
            <a:r>
              <a:rPr lang="en-US" sz="9194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Нашето</a:t>
            </a:r>
            <a:r>
              <a:rPr lang="en-US" sz="9194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 решение</a:t>
            </a:r>
          </a:p>
          <a:p>
            <a:pPr algn="ctr">
              <a:lnSpc>
                <a:spcPts val="891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925587" y="3799940"/>
            <a:ext cx="10333713" cy="188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6"/>
              </a:lnSpc>
            </a:pPr>
            <a:r>
              <a:rPr lang="en-US" sz="35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9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</a:t>
            </a:r>
            <a:r>
              <a:rPr lang="en-US" b="true" sz="359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dShelf</a:t>
            </a:r>
            <a:r>
              <a:rPr lang="en-US" sz="35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предоставя библиотека, която показва на хората какви лекарства имат в наличност у дома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79167" y="5889779"/>
            <a:ext cx="1022655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Изпращат се известия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преди срока на годност да изтече.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071244" y="7333329"/>
            <a:ext cx="1004239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Лесно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добавими лекарства и рецепти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1788" y="5843657"/>
            <a:ext cx="9800273" cy="3693687"/>
            <a:chOff x="0" y="0"/>
            <a:chExt cx="2581142" cy="972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81142" cy="972823"/>
            </a:xfrm>
            <a:custGeom>
              <a:avLst/>
              <a:gdLst/>
              <a:ahLst/>
              <a:cxnLst/>
              <a:rect r="r" b="b" t="t" l="l"/>
              <a:pathLst>
                <a:path h="972823" w="2581142">
                  <a:moveTo>
                    <a:pt x="72677" y="0"/>
                  </a:moveTo>
                  <a:lnTo>
                    <a:pt x="2508465" y="0"/>
                  </a:lnTo>
                  <a:cubicBezTo>
                    <a:pt x="2548603" y="0"/>
                    <a:pt x="2581142" y="32539"/>
                    <a:pt x="2581142" y="72677"/>
                  </a:cubicBezTo>
                  <a:lnTo>
                    <a:pt x="2581142" y="900146"/>
                  </a:lnTo>
                  <a:cubicBezTo>
                    <a:pt x="2581142" y="919421"/>
                    <a:pt x="2573485" y="937907"/>
                    <a:pt x="2559855" y="951536"/>
                  </a:cubicBezTo>
                  <a:cubicBezTo>
                    <a:pt x="2546226" y="965166"/>
                    <a:pt x="2527740" y="972823"/>
                    <a:pt x="2508465" y="972823"/>
                  </a:cubicBezTo>
                  <a:lnTo>
                    <a:pt x="72677" y="972823"/>
                  </a:lnTo>
                  <a:cubicBezTo>
                    <a:pt x="32539" y="972823"/>
                    <a:pt x="0" y="940284"/>
                    <a:pt x="0" y="900146"/>
                  </a:cubicBezTo>
                  <a:lnTo>
                    <a:pt x="0" y="72677"/>
                  </a:lnTo>
                  <a:cubicBezTo>
                    <a:pt x="0" y="32539"/>
                    <a:pt x="32539" y="0"/>
                    <a:pt x="72677" y="0"/>
                  </a:cubicBezTo>
                  <a:close/>
                </a:path>
              </a:pathLst>
            </a:custGeom>
            <a:ln w="85725" cap="rnd">
              <a:solidFill>
                <a:srgbClr val="8ED2E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81142" cy="102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069823">
            <a:off x="7977786" y="-4775398"/>
            <a:ext cx="6781012" cy="6657721"/>
          </a:xfrm>
          <a:custGeom>
            <a:avLst/>
            <a:gdLst/>
            <a:ahLst/>
            <a:cxnLst/>
            <a:rect r="r" b="b" t="t" l="l"/>
            <a:pathLst>
              <a:path h="6657721" w="6781012">
                <a:moveTo>
                  <a:pt x="0" y="0"/>
                </a:moveTo>
                <a:lnTo>
                  <a:pt x="6781012" y="0"/>
                </a:lnTo>
                <a:lnTo>
                  <a:pt x="6781012" y="6657720"/>
                </a:lnTo>
                <a:lnTo>
                  <a:pt x="0" y="6657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06949" y="986891"/>
            <a:ext cx="2916827" cy="3487511"/>
          </a:xfrm>
          <a:custGeom>
            <a:avLst/>
            <a:gdLst/>
            <a:ahLst/>
            <a:cxnLst/>
            <a:rect r="r" b="b" t="t" l="l"/>
            <a:pathLst>
              <a:path h="3487511" w="2916827">
                <a:moveTo>
                  <a:pt x="0" y="0"/>
                </a:moveTo>
                <a:lnTo>
                  <a:pt x="2916827" y="0"/>
                </a:lnTo>
                <a:lnTo>
                  <a:pt x="2916827" y="3487511"/>
                </a:lnTo>
                <a:lnTo>
                  <a:pt x="0" y="3487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00801" y="4211416"/>
            <a:ext cx="3896222" cy="3782877"/>
          </a:xfrm>
          <a:custGeom>
            <a:avLst/>
            <a:gdLst/>
            <a:ahLst/>
            <a:cxnLst/>
            <a:rect r="r" b="b" t="t" l="l"/>
            <a:pathLst>
              <a:path h="3782877" w="3896222">
                <a:moveTo>
                  <a:pt x="0" y="0"/>
                </a:moveTo>
                <a:lnTo>
                  <a:pt x="3896222" y="0"/>
                </a:lnTo>
                <a:lnTo>
                  <a:pt x="3896222" y="3782877"/>
                </a:lnTo>
                <a:lnTo>
                  <a:pt x="0" y="37828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25852" y="986891"/>
            <a:ext cx="1624633" cy="1603955"/>
          </a:xfrm>
          <a:custGeom>
            <a:avLst/>
            <a:gdLst/>
            <a:ahLst/>
            <a:cxnLst/>
            <a:rect r="r" b="b" t="t" l="l"/>
            <a:pathLst>
              <a:path h="1603955" w="1624633">
                <a:moveTo>
                  <a:pt x="0" y="0"/>
                </a:moveTo>
                <a:lnTo>
                  <a:pt x="1624632" y="0"/>
                </a:lnTo>
                <a:lnTo>
                  <a:pt x="1624632" y="1603955"/>
                </a:lnTo>
                <a:lnTo>
                  <a:pt x="0" y="16039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537784" y="2730646"/>
            <a:ext cx="2097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0783" y="3440259"/>
            <a:ext cx="10862283" cy="251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7"/>
              </a:lnSpc>
            </a:pPr>
            <a:r>
              <a:rPr lang="en-US" sz="9956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Цел на проекта</a:t>
            </a:r>
          </a:p>
          <a:p>
            <a:pPr algn="ctr">
              <a:lnSpc>
                <a:spcPts val="965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41570" y="6165493"/>
            <a:ext cx="8817829" cy="337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3698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Нашият проект допринася</a:t>
            </a:r>
            <a:r>
              <a:rPr lang="en-US" sz="3698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за по-добра</a:t>
            </a:r>
          </a:p>
          <a:p>
            <a:pPr algn="ctr">
              <a:lnSpc>
                <a:spcPts val="4437"/>
              </a:lnSpc>
            </a:pPr>
            <a:r>
              <a:rPr lang="en-US" sz="3698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организация и употреба на лекарства, чрез различни функции и известия</a:t>
            </a:r>
          </a:p>
          <a:p>
            <a:pPr algn="ctr">
              <a:lnSpc>
                <a:spcPts val="4437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-1829882">
            <a:off x="14931583" y="8146451"/>
            <a:ext cx="3085776" cy="544219"/>
          </a:xfrm>
          <a:custGeom>
            <a:avLst/>
            <a:gdLst/>
            <a:ahLst/>
            <a:cxnLst/>
            <a:rect r="r" b="b" t="t" l="l"/>
            <a:pathLst>
              <a:path h="544219" w="3085776">
                <a:moveTo>
                  <a:pt x="0" y="0"/>
                </a:moveTo>
                <a:lnTo>
                  <a:pt x="3085776" y="0"/>
                </a:lnTo>
                <a:lnTo>
                  <a:pt x="3085776" y="544219"/>
                </a:lnTo>
                <a:lnTo>
                  <a:pt x="0" y="5442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701542">
            <a:off x="-1064225" y="750431"/>
            <a:ext cx="3542130" cy="1513456"/>
          </a:xfrm>
          <a:custGeom>
            <a:avLst/>
            <a:gdLst/>
            <a:ahLst/>
            <a:cxnLst/>
            <a:rect r="r" b="b" t="t" l="l"/>
            <a:pathLst>
              <a:path h="1513456" w="3542130">
                <a:moveTo>
                  <a:pt x="0" y="0"/>
                </a:moveTo>
                <a:lnTo>
                  <a:pt x="3542130" y="0"/>
                </a:lnTo>
                <a:lnTo>
                  <a:pt x="3542130" y="1513456"/>
                </a:lnTo>
                <a:lnTo>
                  <a:pt x="0" y="15134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52497" y="639693"/>
            <a:ext cx="5176405" cy="4959937"/>
          </a:xfrm>
          <a:custGeom>
            <a:avLst/>
            <a:gdLst/>
            <a:ahLst/>
            <a:cxnLst/>
            <a:rect r="r" b="b" t="t" l="l"/>
            <a:pathLst>
              <a:path h="4959937" w="5176405">
                <a:moveTo>
                  <a:pt x="0" y="0"/>
                </a:moveTo>
                <a:lnTo>
                  <a:pt x="5176405" y="0"/>
                </a:lnTo>
                <a:lnTo>
                  <a:pt x="5176405" y="4959937"/>
                </a:lnTo>
                <a:lnTo>
                  <a:pt x="0" y="4959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192343">
            <a:off x="-1358638" y="8412391"/>
            <a:ext cx="5176405" cy="4959937"/>
          </a:xfrm>
          <a:custGeom>
            <a:avLst/>
            <a:gdLst/>
            <a:ahLst/>
            <a:cxnLst/>
            <a:rect r="r" b="b" t="t" l="l"/>
            <a:pathLst>
              <a:path h="4959937" w="5176405">
                <a:moveTo>
                  <a:pt x="0" y="0"/>
                </a:moveTo>
                <a:lnTo>
                  <a:pt x="5176405" y="0"/>
                </a:lnTo>
                <a:lnTo>
                  <a:pt x="5176405" y="4959937"/>
                </a:lnTo>
                <a:lnTo>
                  <a:pt x="0" y="4959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2929343" y="4840082"/>
            <a:ext cx="10857894" cy="4931060"/>
            <a:chOff x="0" y="0"/>
            <a:chExt cx="2859692" cy="129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9692" cy="1298715"/>
            </a:xfrm>
            <a:custGeom>
              <a:avLst/>
              <a:gdLst/>
              <a:ahLst/>
              <a:cxnLst/>
              <a:rect r="r" b="b" t="t" l="l"/>
              <a:pathLst>
                <a:path h="1298715" w="2859692">
                  <a:moveTo>
                    <a:pt x="65598" y="0"/>
                  </a:moveTo>
                  <a:lnTo>
                    <a:pt x="2794094" y="0"/>
                  </a:lnTo>
                  <a:cubicBezTo>
                    <a:pt x="2811492" y="0"/>
                    <a:pt x="2828177" y="6911"/>
                    <a:pt x="2840479" y="19213"/>
                  </a:cubicBezTo>
                  <a:cubicBezTo>
                    <a:pt x="2852781" y="31515"/>
                    <a:pt x="2859692" y="48200"/>
                    <a:pt x="2859692" y="65598"/>
                  </a:cubicBezTo>
                  <a:lnTo>
                    <a:pt x="2859692" y="1233117"/>
                  </a:lnTo>
                  <a:cubicBezTo>
                    <a:pt x="2859692" y="1269346"/>
                    <a:pt x="2830323" y="1298715"/>
                    <a:pt x="2794094" y="1298715"/>
                  </a:cubicBezTo>
                  <a:lnTo>
                    <a:pt x="65598" y="1298715"/>
                  </a:lnTo>
                  <a:cubicBezTo>
                    <a:pt x="48200" y="1298715"/>
                    <a:pt x="31515" y="1291804"/>
                    <a:pt x="19213" y="1279502"/>
                  </a:cubicBezTo>
                  <a:cubicBezTo>
                    <a:pt x="6911" y="1267200"/>
                    <a:pt x="0" y="1250515"/>
                    <a:pt x="0" y="1233117"/>
                  </a:cubicBezTo>
                  <a:lnTo>
                    <a:pt x="0" y="65598"/>
                  </a:lnTo>
                  <a:cubicBezTo>
                    <a:pt x="0" y="48200"/>
                    <a:pt x="6911" y="31515"/>
                    <a:pt x="19213" y="19213"/>
                  </a:cubicBezTo>
                  <a:cubicBezTo>
                    <a:pt x="31515" y="6911"/>
                    <a:pt x="48200" y="0"/>
                    <a:pt x="65598" y="0"/>
                  </a:cubicBezTo>
                  <a:close/>
                </a:path>
              </a:pathLst>
            </a:custGeom>
            <a:ln w="85725" cap="rnd">
              <a:solidFill>
                <a:srgbClr val="8ED2E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859692" cy="1346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701542">
            <a:off x="-1064225" y="855775"/>
            <a:ext cx="3542130" cy="1513456"/>
          </a:xfrm>
          <a:custGeom>
            <a:avLst/>
            <a:gdLst/>
            <a:ahLst/>
            <a:cxnLst/>
            <a:rect r="r" b="b" t="t" l="l"/>
            <a:pathLst>
              <a:path h="1513456" w="3542130">
                <a:moveTo>
                  <a:pt x="0" y="0"/>
                </a:moveTo>
                <a:lnTo>
                  <a:pt x="3542130" y="0"/>
                </a:lnTo>
                <a:lnTo>
                  <a:pt x="3542130" y="1513455"/>
                </a:lnTo>
                <a:lnTo>
                  <a:pt x="0" y="1513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78554" y="3667390"/>
            <a:ext cx="3767054" cy="3780802"/>
          </a:xfrm>
          <a:custGeom>
            <a:avLst/>
            <a:gdLst/>
            <a:ahLst/>
            <a:cxnLst/>
            <a:rect r="r" b="b" t="t" l="l"/>
            <a:pathLst>
              <a:path h="3780802" w="3767054">
                <a:moveTo>
                  <a:pt x="0" y="0"/>
                </a:moveTo>
                <a:lnTo>
                  <a:pt x="3767054" y="0"/>
                </a:lnTo>
                <a:lnTo>
                  <a:pt x="3767054" y="3780802"/>
                </a:lnTo>
                <a:lnTo>
                  <a:pt x="0" y="37808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71976" y="6202529"/>
            <a:ext cx="3356926" cy="3419091"/>
          </a:xfrm>
          <a:custGeom>
            <a:avLst/>
            <a:gdLst/>
            <a:ahLst/>
            <a:cxnLst/>
            <a:rect r="r" b="b" t="t" l="l"/>
            <a:pathLst>
              <a:path h="3419091" w="3356926">
                <a:moveTo>
                  <a:pt x="0" y="0"/>
                </a:moveTo>
                <a:lnTo>
                  <a:pt x="3356926" y="0"/>
                </a:lnTo>
                <a:lnTo>
                  <a:pt x="3356926" y="3419092"/>
                </a:lnTo>
                <a:lnTo>
                  <a:pt x="0" y="3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60805" y="2730646"/>
            <a:ext cx="2097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25446" y="858768"/>
            <a:ext cx="9572848" cy="4001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1"/>
              </a:lnSpc>
            </a:pPr>
            <a:r>
              <a:rPr lang="en-US" sz="10156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Как</a:t>
            </a:r>
            <a:r>
              <a:rPr lang="en-US" sz="10156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 работи проектът?</a:t>
            </a:r>
          </a:p>
          <a:p>
            <a:pPr algn="ctr">
              <a:lnSpc>
                <a:spcPts val="1111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30546" y="5143500"/>
            <a:ext cx="10198337" cy="423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3"/>
              </a:lnSpc>
            </a:pPr>
            <a:r>
              <a:rPr lang="en-US" sz="351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Потребителят може:</a:t>
            </a:r>
          </a:p>
          <a:p>
            <a:pPr algn="ctr">
              <a:lnSpc>
                <a:spcPts val="4213"/>
              </a:lnSpc>
            </a:pPr>
          </a:p>
          <a:p>
            <a:pPr algn="ctr">
              <a:lnSpc>
                <a:spcPts val="4213"/>
              </a:lnSpc>
            </a:pPr>
            <a:r>
              <a:rPr lang="en-US" sz="351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Да д</a:t>
            </a:r>
            <a:r>
              <a:rPr lang="en-US" sz="351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обавя лекарство или рецепта чрез сканиране или снимка</a:t>
            </a:r>
          </a:p>
          <a:p>
            <a:pPr algn="ctr">
              <a:lnSpc>
                <a:spcPts val="4213"/>
              </a:lnSpc>
            </a:pPr>
          </a:p>
          <a:p>
            <a:pPr algn="ctr">
              <a:lnSpc>
                <a:spcPts val="4213"/>
              </a:lnSpc>
            </a:pPr>
            <a:r>
              <a:rPr lang="en-US" sz="351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Да намери най-близките аптеки до него</a:t>
            </a:r>
          </a:p>
          <a:p>
            <a:pPr algn="ctr">
              <a:lnSpc>
                <a:spcPts val="4213"/>
              </a:lnSpc>
            </a:pPr>
          </a:p>
          <a:p>
            <a:pPr algn="ctr">
              <a:lnSpc>
                <a:spcPts val="4213"/>
              </a:lnSpc>
            </a:pPr>
            <a:r>
              <a:rPr lang="en-US" sz="351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Да се съдейства с AI за съвети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69823">
            <a:off x="7977786" y="-4775398"/>
            <a:ext cx="6781012" cy="6657721"/>
          </a:xfrm>
          <a:custGeom>
            <a:avLst/>
            <a:gdLst/>
            <a:ahLst/>
            <a:cxnLst/>
            <a:rect r="r" b="b" t="t" l="l"/>
            <a:pathLst>
              <a:path h="6657721" w="6781012">
                <a:moveTo>
                  <a:pt x="0" y="0"/>
                </a:moveTo>
                <a:lnTo>
                  <a:pt x="6781012" y="0"/>
                </a:lnTo>
                <a:lnTo>
                  <a:pt x="6781012" y="6657720"/>
                </a:lnTo>
                <a:lnTo>
                  <a:pt x="0" y="6657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25852" y="986891"/>
            <a:ext cx="1624633" cy="1603955"/>
          </a:xfrm>
          <a:custGeom>
            <a:avLst/>
            <a:gdLst/>
            <a:ahLst/>
            <a:cxnLst/>
            <a:rect r="r" b="b" t="t" l="l"/>
            <a:pathLst>
              <a:path h="1603955" w="1624633">
                <a:moveTo>
                  <a:pt x="0" y="0"/>
                </a:moveTo>
                <a:lnTo>
                  <a:pt x="1624632" y="0"/>
                </a:lnTo>
                <a:lnTo>
                  <a:pt x="1624632" y="1603955"/>
                </a:lnTo>
                <a:lnTo>
                  <a:pt x="0" y="1603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29882">
            <a:off x="14931583" y="8146451"/>
            <a:ext cx="3085776" cy="544219"/>
          </a:xfrm>
          <a:custGeom>
            <a:avLst/>
            <a:gdLst/>
            <a:ahLst/>
            <a:cxnLst/>
            <a:rect r="r" b="b" t="t" l="l"/>
            <a:pathLst>
              <a:path h="544219" w="3085776">
                <a:moveTo>
                  <a:pt x="0" y="0"/>
                </a:moveTo>
                <a:lnTo>
                  <a:pt x="3085776" y="0"/>
                </a:lnTo>
                <a:lnTo>
                  <a:pt x="3085776" y="544219"/>
                </a:lnTo>
                <a:lnTo>
                  <a:pt x="0" y="54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701542">
            <a:off x="-1064225" y="750431"/>
            <a:ext cx="3542130" cy="1513456"/>
          </a:xfrm>
          <a:custGeom>
            <a:avLst/>
            <a:gdLst/>
            <a:ahLst/>
            <a:cxnLst/>
            <a:rect r="r" b="b" t="t" l="l"/>
            <a:pathLst>
              <a:path h="1513456" w="3542130">
                <a:moveTo>
                  <a:pt x="0" y="0"/>
                </a:moveTo>
                <a:lnTo>
                  <a:pt x="3542130" y="0"/>
                </a:lnTo>
                <a:lnTo>
                  <a:pt x="3542130" y="1513456"/>
                </a:lnTo>
                <a:lnTo>
                  <a:pt x="0" y="1513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26904" y="5143500"/>
            <a:ext cx="3962364" cy="3789461"/>
          </a:xfrm>
          <a:custGeom>
            <a:avLst/>
            <a:gdLst/>
            <a:ahLst/>
            <a:cxnLst/>
            <a:rect r="r" b="b" t="t" l="l"/>
            <a:pathLst>
              <a:path h="3789461" w="3962364">
                <a:moveTo>
                  <a:pt x="0" y="0"/>
                </a:moveTo>
                <a:lnTo>
                  <a:pt x="3962364" y="0"/>
                </a:lnTo>
                <a:lnTo>
                  <a:pt x="3962364" y="3789461"/>
                </a:lnTo>
                <a:lnTo>
                  <a:pt x="0" y="3789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09290" y="2033338"/>
            <a:ext cx="3600203" cy="2808158"/>
          </a:xfrm>
          <a:custGeom>
            <a:avLst/>
            <a:gdLst/>
            <a:ahLst/>
            <a:cxnLst/>
            <a:rect r="r" b="b" t="t" l="l"/>
            <a:pathLst>
              <a:path h="2808158" w="3600203">
                <a:moveTo>
                  <a:pt x="0" y="0"/>
                </a:moveTo>
                <a:lnTo>
                  <a:pt x="3600202" y="0"/>
                </a:lnTo>
                <a:lnTo>
                  <a:pt x="3600202" y="2808158"/>
                </a:lnTo>
                <a:lnTo>
                  <a:pt x="0" y="28081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37784" y="2730646"/>
            <a:ext cx="2097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4371" y="4445146"/>
            <a:ext cx="10068209" cy="3389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3"/>
              </a:lnSpc>
            </a:pPr>
            <a:r>
              <a:rPr lang="en-US" sz="26034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Демо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6335" y="3807127"/>
            <a:ext cx="10528340" cy="5018314"/>
            <a:chOff x="0" y="0"/>
            <a:chExt cx="2772896" cy="13216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2896" cy="1321696"/>
            </a:xfrm>
            <a:custGeom>
              <a:avLst/>
              <a:gdLst/>
              <a:ahLst/>
              <a:cxnLst/>
              <a:rect r="r" b="b" t="t" l="l"/>
              <a:pathLst>
                <a:path h="1321696" w="2772896">
                  <a:moveTo>
                    <a:pt x="67651" y="0"/>
                  </a:moveTo>
                  <a:lnTo>
                    <a:pt x="2705245" y="0"/>
                  </a:lnTo>
                  <a:cubicBezTo>
                    <a:pt x="2742608" y="0"/>
                    <a:pt x="2772896" y="30289"/>
                    <a:pt x="2772896" y="67651"/>
                  </a:cubicBezTo>
                  <a:lnTo>
                    <a:pt x="2772896" y="1254044"/>
                  </a:lnTo>
                  <a:cubicBezTo>
                    <a:pt x="2772896" y="1271987"/>
                    <a:pt x="2765769" y="1289194"/>
                    <a:pt x="2753081" y="1301881"/>
                  </a:cubicBezTo>
                  <a:cubicBezTo>
                    <a:pt x="2740394" y="1314568"/>
                    <a:pt x="2723187" y="1321696"/>
                    <a:pt x="2705245" y="1321696"/>
                  </a:cubicBezTo>
                  <a:lnTo>
                    <a:pt x="67651" y="1321696"/>
                  </a:lnTo>
                  <a:cubicBezTo>
                    <a:pt x="49709" y="1321696"/>
                    <a:pt x="32502" y="1314568"/>
                    <a:pt x="19815" y="1301881"/>
                  </a:cubicBezTo>
                  <a:cubicBezTo>
                    <a:pt x="7128" y="1289194"/>
                    <a:pt x="0" y="1271987"/>
                    <a:pt x="0" y="1254044"/>
                  </a:cubicBezTo>
                  <a:lnTo>
                    <a:pt x="0" y="67651"/>
                  </a:lnTo>
                  <a:cubicBezTo>
                    <a:pt x="0" y="49709"/>
                    <a:pt x="7128" y="32502"/>
                    <a:pt x="19815" y="19815"/>
                  </a:cubicBezTo>
                  <a:cubicBezTo>
                    <a:pt x="32502" y="7128"/>
                    <a:pt x="49709" y="0"/>
                    <a:pt x="67651" y="0"/>
                  </a:cubicBezTo>
                  <a:close/>
                </a:path>
              </a:pathLst>
            </a:custGeom>
            <a:ln w="85725" cap="rnd">
              <a:solidFill>
                <a:srgbClr val="8ED2E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72896" cy="1369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905417">
            <a:off x="-3156262" y="-2976394"/>
            <a:ext cx="7942954" cy="7798537"/>
          </a:xfrm>
          <a:custGeom>
            <a:avLst/>
            <a:gdLst/>
            <a:ahLst/>
            <a:cxnLst/>
            <a:rect r="r" b="b" t="t" l="l"/>
            <a:pathLst>
              <a:path h="7798537" w="7942954">
                <a:moveTo>
                  <a:pt x="0" y="0"/>
                </a:moveTo>
                <a:lnTo>
                  <a:pt x="7942955" y="0"/>
                </a:lnTo>
                <a:lnTo>
                  <a:pt x="7942955" y="7798537"/>
                </a:lnTo>
                <a:lnTo>
                  <a:pt x="0" y="77985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069823">
            <a:off x="12578118" y="9222753"/>
            <a:ext cx="6122332" cy="6011017"/>
          </a:xfrm>
          <a:custGeom>
            <a:avLst/>
            <a:gdLst/>
            <a:ahLst/>
            <a:cxnLst/>
            <a:rect r="r" b="b" t="t" l="l"/>
            <a:pathLst>
              <a:path h="6011017" w="6122332">
                <a:moveTo>
                  <a:pt x="0" y="0"/>
                </a:moveTo>
                <a:lnTo>
                  <a:pt x="6122332" y="0"/>
                </a:lnTo>
                <a:lnTo>
                  <a:pt x="6122332" y="6011017"/>
                </a:lnTo>
                <a:lnTo>
                  <a:pt x="0" y="6011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36083" y="9425322"/>
            <a:ext cx="3085776" cy="544219"/>
          </a:xfrm>
          <a:custGeom>
            <a:avLst/>
            <a:gdLst/>
            <a:ahLst/>
            <a:cxnLst/>
            <a:rect r="r" b="b" t="t" l="l"/>
            <a:pathLst>
              <a:path h="544219" w="3085776">
                <a:moveTo>
                  <a:pt x="0" y="0"/>
                </a:moveTo>
                <a:lnTo>
                  <a:pt x="3085776" y="0"/>
                </a:lnTo>
                <a:lnTo>
                  <a:pt x="3085776" y="544219"/>
                </a:lnTo>
                <a:lnTo>
                  <a:pt x="0" y="5442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69639" y="4630695"/>
            <a:ext cx="4892994" cy="4546037"/>
          </a:xfrm>
          <a:custGeom>
            <a:avLst/>
            <a:gdLst/>
            <a:ahLst/>
            <a:cxnLst/>
            <a:rect r="r" b="b" t="t" l="l"/>
            <a:pathLst>
              <a:path h="4546037" w="4892994">
                <a:moveTo>
                  <a:pt x="0" y="0"/>
                </a:moveTo>
                <a:lnTo>
                  <a:pt x="4892995" y="0"/>
                </a:lnTo>
                <a:lnTo>
                  <a:pt x="4892995" y="4546036"/>
                </a:lnTo>
                <a:lnTo>
                  <a:pt x="0" y="4546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24293" y="0"/>
            <a:ext cx="3620913" cy="2192298"/>
          </a:xfrm>
          <a:custGeom>
            <a:avLst/>
            <a:gdLst/>
            <a:ahLst/>
            <a:cxnLst/>
            <a:rect r="r" b="b" t="t" l="l"/>
            <a:pathLst>
              <a:path h="2192298" w="3620913">
                <a:moveTo>
                  <a:pt x="0" y="0"/>
                </a:moveTo>
                <a:lnTo>
                  <a:pt x="3620913" y="0"/>
                </a:lnTo>
                <a:lnTo>
                  <a:pt x="3620913" y="2192298"/>
                </a:lnTo>
                <a:lnTo>
                  <a:pt x="0" y="21922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26335" y="2730646"/>
            <a:ext cx="2097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02500" y="841273"/>
            <a:ext cx="9843807" cy="378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4"/>
              </a:lnSpc>
            </a:pPr>
            <a:r>
              <a:rPr lang="en-US" sz="10056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Използвани технологии</a:t>
            </a:r>
          </a:p>
          <a:p>
            <a:pPr algn="ctr">
              <a:lnSpc>
                <a:spcPts val="975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231209" y="4140178"/>
            <a:ext cx="10318591" cy="435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7"/>
              </a:lnSpc>
            </a:pPr>
            <a:r>
              <a:rPr lang="en-US" sz="4048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Flutter &amp; Dart за mobile app</a:t>
            </a:r>
          </a:p>
          <a:p>
            <a:pPr algn="ctr">
              <a:lnSpc>
                <a:spcPts val="5577"/>
              </a:lnSpc>
            </a:pPr>
          </a:p>
          <a:p>
            <a:pPr algn="ctr">
              <a:lnSpc>
                <a:spcPts val="4857"/>
              </a:lnSpc>
            </a:pPr>
            <a:r>
              <a:rPr lang="en-US" sz="4048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Firebase &amp; Google Cloud за база данни</a:t>
            </a:r>
          </a:p>
          <a:p>
            <a:pPr algn="ctr">
              <a:lnSpc>
                <a:spcPts val="4857"/>
              </a:lnSpc>
            </a:pPr>
          </a:p>
          <a:p>
            <a:pPr algn="ctr">
              <a:lnSpc>
                <a:spcPts val="4857"/>
              </a:lnSpc>
            </a:pPr>
            <a:r>
              <a:rPr lang="en-US" sz="4048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AI OCR за разчитане на кутии и рецепти</a:t>
            </a:r>
          </a:p>
          <a:p>
            <a:pPr algn="ctr">
              <a:lnSpc>
                <a:spcPts val="4857"/>
              </a:lnSpc>
            </a:pPr>
          </a:p>
          <a:p>
            <a:pPr algn="ctr">
              <a:lnSpc>
                <a:spcPts val="4857"/>
              </a:lnSpc>
            </a:pPr>
            <a:r>
              <a:rPr lang="en-US" sz="4048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Android Studio за разработка и тестове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8677" y="2998468"/>
            <a:ext cx="12098533" cy="5833213"/>
            <a:chOff x="0" y="0"/>
            <a:chExt cx="3186445" cy="15363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6445" cy="1536319"/>
            </a:xfrm>
            <a:custGeom>
              <a:avLst/>
              <a:gdLst/>
              <a:ahLst/>
              <a:cxnLst/>
              <a:rect r="r" b="b" t="t" l="l"/>
              <a:pathLst>
                <a:path h="1536319" w="3186445">
                  <a:moveTo>
                    <a:pt x="58871" y="0"/>
                  </a:moveTo>
                  <a:lnTo>
                    <a:pt x="3127573" y="0"/>
                  </a:lnTo>
                  <a:cubicBezTo>
                    <a:pt x="3160087" y="0"/>
                    <a:pt x="3186445" y="26358"/>
                    <a:pt x="3186445" y="58871"/>
                  </a:cubicBezTo>
                  <a:lnTo>
                    <a:pt x="3186445" y="1477448"/>
                  </a:lnTo>
                  <a:cubicBezTo>
                    <a:pt x="3186445" y="1493062"/>
                    <a:pt x="3180242" y="1508036"/>
                    <a:pt x="3169202" y="1519076"/>
                  </a:cubicBezTo>
                  <a:cubicBezTo>
                    <a:pt x="3158161" y="1530117"/>
                    <a:pt x="3143187" y="1536319"/>
                    <a:pt x="3127573" y="1536319"/>
                  </a:cubicBezTo>
                  <a:lnTo>
                    <a:pt x="58871" y="1536319"/>
                  </a:lnTo>
                  <a:cubicBezTo>
                    <a:pt x="26358" y="1536319"/>
                    <a:pt x="0" y="1509962"/>
                    <a:pt x="0" y="1477448"/>
                  </a:cubicBezTo>
                  <a:lnTo>
                    <a:pt x="0" y="58871"/>
                  </a:lnTo>
                  <a:cubicBezTo>
                    <a:pt x="0" y="26358"/>
                    <a:pt x="26358" y="0"/>
                    <a:pt x="58871" y="0"/>
                  </a:cubicBezTo>
                  <a:close/>
                </a:path>
              </a:pathLst>
            </a:custGeom>
            <a:ln w="85725" cap="rnd">
              <a:solidFill>
                <a:srgbClr val="8ED2E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86445" cy="1583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905417">
            <a:off x="-2820914" y="-3167263"/>
            <a:ext cx="6936600" cy="6810480"/>
          </a:xfrm>
          <a:custGeom>
            <a:avLst/>
            <a:gdLst/>
            <a:ahLst/>
            <a:cxnLst/>
            <a:rect r="r" b="b" t="t" l="l"/>
            <a:pathLst>
              <a:path h="6810480" w="6936600">
                <a:moveTo>
                  <a:pt x="0" y="0"/>
                </a:moveTo>
                <a:lnTo>
                  <a:pt x="6936599" y="0"/>
                </a:lnTo>
                <a:lnTo>
                  <a:pt x="6936599" y="6810480"/>
                </a:lnTo>
                <a:lnTo>
                  <a:pt x="0" y="68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069823">
            <a:off x="12559275" y="8893681"/>
            <a:ext cx="6440067" cy="6322974"/>
          </a:xfrm>
          <a:custGeom>
            <a:avLst/>
            <a:gdLst/>
            <a:ahLst/>
            <a:cxnLst/>
            <a:rect r="r" b="b" t="t" l="l"/>
            <a:pathLst>
              <a:path h="6322974" w="6440067">
                <a:moveTo>
                  <a:pt x="0" y="0"/>
                </a:moveTo>
                <a:lnTo>
                  <a:pt x="6440067" y="0"/>
                </a:lnTo>
                <a:lnTo>
                  <a:pt x="6440067" y="6322974"/>
                </a:lnTo>
                <a:lnTo>
                  <a:pt x="0" y="6322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36083" y="9258300"/>
            <a:ext cx="3085776" cy="544219"/>
          </a:xfrm>
          <a:custGeom>
            <a:avLst/>
            <a:gdLst/>
            <a:ahLst/>
            <a:cxnLst/>
            <a:rect r="r" b="b" t="t" l="l"/>
            <a:pathLst>
              <a:path h="544219" w="3085776">
                <a:moveTo>
                  <a:pt x="0" y="0"/>
                </a:moveTo>
                <a:lnTo>
                  <a:pt x="3085776" y="0"/>
                </a:lnTo>
                <a:lnTo>
                  <a:pt x="3085776" y="544219"/>
                </a:lnTo>
                <a:lnTo>
                  <a:pt x="0" y="5442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4958839"/>
            <a:ext cx="3982900" cy="4434403"/>
          </a:xfrm>
          <a:custGeom>
            <a:avLst/>
            <a:gdLst/>
            <a:ahLst/>
            <a:cxnLst/>
            <a:rect r="r" b="b" t="t" l="l"/>
            <a:pathLst>
              <a:path h="4434403" w="3982900">
                <a:moveTo>
                  <a:pt x="0" y="0"/>
                </a:moveTo>
                <a:lnTo>
                  <a:pt x="3982900" y="0"/>
                </a:lnTo>
                <a:lnTo>
                  <a:pt x="3982900" y="4434403"/>
                </a:lnTo>
                <a:lnTo>
                  <a:pt x="0" y="4434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51075" y="712874"/>
            <a:ext cx="1708225" cy="2069436"/>
          </a:xfrm>
          <a:custGeom>
            <a:avLst/>
            <a:gdLst/>
            <a:ahLst/>
            <a:cxnLst/>
            <a:rect r="r" b="b" t="t" l="l"/>
            <a:pathLst>
              <a:path h="2069436" w="1708225">
                <a:moveTo>
                  <a:pt x="0" y="0"/>
                </a:moveTo>
                <a:lnTo>
                  <a:pt x="1708225" y="0"/>
                </a:lnTo>
                <a:lnTo>
                  <a:pt x="1708225" y="2069436"/>
                </a:lnTo>
                <a:lnTo>
                  <a:pt x="0" y="20694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26335" y="2730646"/>
            <a:ext cx="2097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23640" y="884324"/>
            <a:ext cx="13681547" cy="213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6"/>
              </a:lnSpc>
            </a:pPr>
            <a:r>
              <a:rPr lang="en-US" sz="8356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Нашето преживяване</a:t>
            </a:r>
          </a:p>
          <a:p>
            <a:pPr algn="ctr">
              <a:lnSpc>
                <a:spcPts val="810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824150" y="3429050"/>
            <a:ext cx="11227587" cy="497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Нашият екип:</a:t>
            </a:r>
          </a:p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Сияна Топузова, Георги Желев, Боян Пеев и Павел Спасов</a:t>
            </a:r>
          </a:p>
          <a:p>
            <a:pPr algn="ctr">
              <a:lnSpc>
                <a:spcPts val="6599"/>
              </a:lnSpc>
            </a:pPr>
          </a:p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Нашият ментор:</a:t>
            </a:r>
          </a:p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Емил Цанев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2514" y="291800"/>
            <a:ext cx="4349787" cy="4167887"/>
          </a:xfrm>
          <a:custGeom>
            <a:avLst/>
            <a:gdLst/>
            <a:ahLst/>
            <a:cxnLst/>
            <a:rect r="r" b="b" t="t" l="l"/>
            <a:pathLst>
              <a:path h="4167887" w="4349787">
                <a:moveTo>
                  <a:pt x="0" y="0"/>
                </a:moveTo>
                <a:lnTo>
                  <a:pt x="4349787" y="0"/>
                </a:lnTo>
                <a:lnTo>
                  <a:pt x="4349787" y="4167887"/>
                </a:lnTo>
                <a:lnTo>
                  <a:pt x="0" y="4167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192343">
            <a:off x="-1406119" y="8579128"/>
            <a:ext cx="5176405" cy="4959937"/>
          </a:xfrm>
          <a:custGeom>
            <a:avLst/>
            <a:gdLst/>
            <a:ahLst/>
            <a:cxnLst/>
            <a:rect r="r" b="b" t="t" l="l"/>
            <a:pathLst>
              <a:path h="4959937" w="5176405">
                <a:moveTo>
                  <a:pt x="0" y="0"/>
                </a:moveTo>
                <a:lnTo>
                  <a:pt x="5176405" y="0"/>
                </a:lnTo>
                <a:lnTo>
                  <a:pt x="5176405" y="4959937"/>
                </a:lnTo>
                <a:lnTo>
                  <a:pt x="0" y="4959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701542">
            <a:off x="-1064225" y="855775"/>
            <a:ext cx="3542130" cy="1513456"/>
          </a:xfrm>
          <a:custGeom>
            <a:avLst/>
            <a:gdLst/>
            <a:ahLst/>
            <a:cxnLst/>
            <a:rect r="r" b="b" t="t" l="l"/>
            <a:pathLst>
              <a:path h="1513456" w="3542130">
                <a:moveTo>
                  <a:pt x="0" y="0"/>
                </a:moveTo>
                <a:lnTo>
                  <a:pt x="3542130" y="0"/>
                </a:lnTo>
                <a:lnTo>
                  <a:pt x="3542130" y="1513455"/>
                </a:lnTo>
                <a:lnTo>
                  <a:pt x="0" y="1513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974678">
            <a:off x="13510908" y="6787704"/>
            <a:ext cx="3814058" cy="3814058"/>
          </a:xfrm>
          <a:custGeom>
            <a:avLst/>
            <a:gdLst/>
            <a:ahLst/>
            <a:cxnLst/>
            <a:rect r="r" b="b" t="t" l="l"/>
            <a:pathLst>
              <a:path h="3814058" w="3814058">
                <a:moveTo>
                  <a:pt x="3814058" y="0"/>
                </a:moveTo>
                <a:lnTo>
                  <a:pt x="0" y="0"/>
                </a:lnTo>
                <a:lnTo>
                  <a:pt x="0" y="3814058"/>
                </a:lnTo>
                <a:lnTo>
                  <a:pt x="3814058" y="3814058"/>
                </a:lnTo>
                <a:lnTo>
                  <a:pt x="381405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7136" y="4384300"/>
            <a:ext cx="2536781" cy="2513719"/>
          </a:xfrm>
          <a:custGeom>
            <a:avLst/>
            <a:gdLst/>
            <a:ahLst/>
            <a:cxnLst/>
            <a:rect r="r" b="b" t="t" l="l"/>
            <a:pathLst>
              <a:path h="2513719" w="2536781">
                <a:moveTo>
                  <a:pt x="0" y="0"/>
                </a:moveTo>
                <a:lnTo>
                  <a:pt x="2536781" y="0"/>
                </a:lnTo>
                <a:lnTo>
                  <a:pt x="2536781" y="2513719"/>
                </a:lnTo>
                <a:lnTo>
                  <a:pt x="0" y="25137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60805" y="2730646"/>
            <a:ext cx="2097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7732" y="2581905"/>
            <a:ext cx="11694475" cy="544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0"/>
              </a:lnSpc>
            </a:pPr>
            <a:r>
              <a:rPr lang="en-US" sz="14516">
                <a:solidFill>
                  <a:srgbClr val="FFFFFF"/>
                </a:solidFill>
                <a:latin typeface="Handy Casual"/>
                <a:ea typeface="Handy Casual"/>
                <a:cs typeface="Handy Casual"/>
                <a:sym typeface="Handy Casual"/>
              </a:rPr>
              <a:t>Благодаря за вниманието!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DAHFIcckNkY</dc:identifier>
  <dcterms:modified xsi:type="dcterms:W3CDTF">2011-08-01T06:04:30Z</dcterms:modified>
  <cp:revision>1</cp:revision>
  <dc:title>MedShelf</dc:title>
</cp:coreProperties>
</file>